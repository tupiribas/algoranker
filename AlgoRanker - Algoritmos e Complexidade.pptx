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Merriweather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5.xml"/><Relationship Id="rId22" Type="http://schemas.openxmlformats.org/officeDocument/2006/relationships/font" Target="fonts/DMSans-italic.fntdata"/><Relationship Id="rId10" Type="http://schemas.openxmlformats.org/officeDocument/2006/relationships/slide" Target="slides/slide4.xml"/><Relationship Id="rId21" Type="http://schemas.openxmlformats.org/officeDocument/2006/relationships/font" Target="fonts/DM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Merriweather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9cbfa9b05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a9cbfa9b05_0_4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9cbfa9b05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a9cbfa9b05_0_4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9cbfa9b05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a9cbfa9b05_0_5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9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hyperlink" Target="https://algoranker.fly.dev/" TargetMode="External"/><Relationship Id="rId7" Type="http://schemas.openxmlformats.org/officeDocument/2006/relationships/image" Target="../media/image16.png"/><Relationship Id="rId8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7450" y="3852713"/>
            <a:ext cx="7277100" cy="89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2275522" y="1970782"/>
            <a:ext cx="764095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AlgoRanker</a:t>
            </a:r>
            <a:endParaRPr/>
          </a:p>
        </p:txBody>
      </p:sp>
      <p:sp>
        <p:nvSpPr>
          <p:cNvPr id="162" name="Google Shape;162;p25"/>
          <p:cNvSpPr txBox="1"/>
          <p:nvPr/>
        </p:nvSpPr>
        <p:spPr>
          <a:xfrm>
            <a:off x="2457450" y="2984152"/>
            <a:ext cx="72771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Visualizador Interativo de Algoritmos de Ordenação</a:t>
            </a:r>
            <a:endParaRPr/>
          </a:p>
        </p:txBody>
      </p:sp>
      <p:sp>
        <p:nvSpPr>
          <p:cNvPr id="163" name="Google Shape;163;p25"/>
          <p:cNvSpPr txBox="1"/>
          <p:nvPr/>
        </p:nvSpPr>
        <p:spPr>
          <a:xfrm>
            <a:off x="2457450" y="4052738"/>
            <a:ext cx="7277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Projeto Acadêmico: Algoritmos e Complexidade</a:t>
            </a:r>
            <a:endParaRPr/>
          </a:p>
        </p:txBody>
      </p:sp>
      <p:sp>
        <p:nvSpPr>
          <p:cNvPr id="164" name="Google Shape;164;p25"/>
          <p:cNvSpPr txBox="1"/>
          <p:nvPr/>
        </p:nvSpPr>
        <p:spPr>
          <a:xfrm>
            <a:off x="2457450" y="4469903"/>
            <a:ext cx="7277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Aluno: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Tupi Guedes Ribas |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Prof.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MSc Heleno Cardoso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8412"/>
            <a:ext cx="5238750" cy="2910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38412"/>
            <a:ext cx="5238750" cy="291078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 txBox="1"/>
          <p:nvPr/>
        </p:nvSpPr>
        <p:spPr>
          <a:xfrm>
            <a:off x="962025" y="2928937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</a:t>
            </a:r>
            <a:endParaRPr/>
          </a:p>
        </p:txBody>
      </p:sp>
      <p:sp>
        <p:nvSpPr>
          <p:cNvPr id="173" name="Google Shape;173;p26"/>
          <p:cNvSpPr txBox="1"/>
          <p:nvPr/>
        </p:nvSpPr>
        <p:spPr>
          <a:xfrm>
            <a:off x="962025" y="3391792"/>
            <a:ext cx="4457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Desenvolver uma Single Page Application (SPA) que </a:t>
            </a:r>
            <a:r>
              <a:rPr lang="en-US" sz="15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permite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visualizar, em tempo real, o comportamento e a performance de algoritmos de ordenação aplicados a um ranking de jogadores.</a:t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6772275" y="2928937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00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Escopo</a:t>
            </a:r>
            <a:endParaRPr/>
          </a:p>
        </p:txBody>
      </p:sp>
      <p:sp>
        <p:nvSpPr>
          <p:cNvPr id="175" name="Google Shape;175;p26"/>
          <p:cNvSpPr txBox="1"/>
          <p:nvPr/>
        </p:nvSpPr>
        <p:spPr>
          <a:xfrm>
            <a:off x="6772275" y="3391792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 sistema gerencia um cadastro dinâmico de pontuações, aplica algoritmos de ordenação (Bubble, Merge, Quick) e apresenta visualmente as comparações e trocas de elementos.</a:t>
            </a:r>
            <a:endParaRPr/>
          </a:p>
        </p:txBody>
      </p:sp>
      <p:pic>
        <p:nvPicPr>
          <p:cNvPr descr="image.png" id="176" name="Google Shape;17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4798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947987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571500" y="571500"/>
            <a:ext cx="11601450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Visão Geral do Projeto</a:t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>
            <a:off x="571500" y="131058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31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 txBox="1"/>
          <p:nvPr/>
        </p:nvSpPr>
        <p:spPr>
          <a:xfrm>
            <a:off x="571500" y="1623525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aplicação foi construída utilizando uma arquitetura moderna baseada em componentes, focada em performance de renderização.</a:t>
            </a:r>
            <a:endParaRPr/>
          </a:p>
        </p:txBody>
      </p:sp>
      <p:sp>
        <p:nvSpPr>
          <p:cNvPr id="186" name="Google Shape;186;p27"/>
          <p:cNvSpPr txBox="1"/>
          <p:nvPr/>
        </p:nvSpPr>
        <p:spPr>
          <a:xfrm>
            <a:off x="857250" y="3169900"/>
            <a:ext cx="1076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React </a:t>
            </a:r>
            <a:r>
              <a:rPr b="1" lang="en-US" sz="15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TypeScript: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Tipagem estática e reatividade para controle preciso do estado da animação.</a:t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857250" y="366646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Vite: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Build tool de alta performance.</a:t>
            </a:r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857250" y="4264900"/>
            <a:ext cx="8732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Tailwind CSS: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Estilização utilitária para layout responsivo.</a:t>
            </a:r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857250" y="4828040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Docker: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Containerização via Dockerfile multi-stage.</a:t>
            </a:r>
            <a:endParaRPr/>
          </a:p>
        </p:txBody>
      </p:sp>
      <p:sp>
        <p:nvSpPr>
          <p:cNvPr id="190" name="Google Shape;190;p27"/>
          <p:cNvSpPr txBox="1"/>
          <p:nvPr/>
        </p:nvSpPr>
        <p:spPr>
          <a:xfrm>
            <a:off x="857250" y="5441190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Fly.io: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Deploy contínuo via GitHub Actions.</a:t>
            </a:r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571500" y="571500"/>
            <a:ext cx="11601450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Stack Tecnológica</a:t>
            </a:r>
            <a:endParaRPr/>
          </a:p>
        </p:txBody>
      </p:sp>
      <p:sp>
        <p:nvSpPr>
          <p:cNvPr id="192" name="Google Shape;192;p27"/>
          <p:cNvSpPr/>
          <p:nvPr/>
        </p:nvSpPr>
        <p:spPr>
          <a:xfrm>
            <a:off x="571500" y="131058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3" name="Google Shape;19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698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664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648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280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44119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7350" y="2088800"/>
            <a:ext cx="343314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01505"/>
            <a:ext cx="523875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8"/>
          <p:cNvSpPr txBox="1"/>
          <p:nvPr/>
        </p:nvSpPr>
        <p:spPr>
          <a:xfrm>
            <a:off x="571500" y="1371600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Por que Arrays?</a:t>
            </a:r>
            <a:endParaRPr/>
          </a:p>
        </p:txBody>
      </p:sp>
      <p:sp>
        <p:nvSpPr>
          <p:cNvPr id="206" name="Google Shape;206;p28"/>
          <p:cNvSpPr txBox="1"/>
          <p:nvPr/>
        </p:nvSpPr>
        <p:spPr>
          <a:xfrm>
            <a:off x="571500" y="1834455"/>
            <a:ext cx="5238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estrutura principal é um vetor de objetos Player. A escolha se deve a:</a:t>
            </a:r>
            <a:endParaRPr/>
          </a:p>
        </p:txBody>
      </p:sp>
      <p:pic>
        <p:nvPicPr>
          <p:cNvPr descr="image.png" id="207" name="Google Shape;207;p28"/>
          <p:cNvPicPr preferRelativeResize="0"/>
          <p:nvPr/>
        </p:nvPicPr>
        <p:blipFill rotWithShape="1">
          <a:blip r:embed="rId6">
            <a:alphaModFix/>
          </a:blip>
          <a:srcRect b="0" l="39325" r="-5097" t="0"/>
          <a:stretch/>
        </p:blipFill>
        <p:spPr>
          <a:xfrm>
            <a:off x="7232350" y="1054300"/>
            <a:ext cx="4378626" cy="483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8"/>
          <p:cNvSpPr txBox="1"/>
          <p:nvPr/>
        </p:nvSpPr>
        <p:spPr>
          <a:xfrm>
            <a:off x="857250" y="259645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Acesso O(1):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Essencial para leitura rápida durante as comparações visuais.</a:t>
            </a:r>
            <a:endParaRPr/>
          </a:p>
        </p:txBody>
      </p:sp>
      <p:sp>
        <p:nvSpPr>
          <p:cNvPr id="209" name="Google Shape;209;p28"/>
          <p:cNvSpPr txBox="1"/>
          <p:nvPr/>
        </p:nvSpPr>
        <p:spPr>
          <a:xfrm>
            <a:off x="857250" y="334893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Cache Locality: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Elementos contíguos na memória melhoram a performance real.</a:t>
            </a:r>
            <a:endParaRPr/>
          </a:p>
        </p:txBody>
      </p:sp>
      <p:sp>
        <p:nvSpPr>
          <p:cNvPr id="210" name="Google Shape;210;p28"/>
          <p:cNvSpPr txBox="1"/>
          <p:nvPr/>
        </p:nvSpPr>
        <p:spPr>
          <a:xfrm>
            <a:off x="857250" y="410140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Compatibilidade: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Algoritmos clássicos como QuickSort operam nativamente sobre índices.</a:t>
            </a:r>
            <a:endParaRPr/>
          </a:p>
        </p:txBody>
      </p:sp>
      <p:sp>
        <p:nvSpPr>
          <p:cNvPr id="211" name="Google Shape;211;p28"/>
          <p:cNvSpPr txBox="1"/>
          <p:nvPr/>
        </p:nvSpPr>
        <p:spPr>
          <a:xfrm>
            <a:off x="571500" y="241994"/>
            <a:ext cx="11601450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Estrutura de Dados: Array</a:t>
            </a:r>
            <a:endParaRPr/>
          </a:p>
        </p:txBody>
      </p:sp>
      <p:sp>
        <p:nvSpPr>
          <p:cNvPr id="212" name="Google Shape;212;p28"/>
          <p:cNvSpPr/>
          <p:nvPr/>
        </p:nvSpPr>
        <p:spPr>
          <a:xfrm>
            <a:off x="571500" y="98107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3" name="Google Shape;213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59645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489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0140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2350" y="1716583"/>
            <a:ext cx="4343400" cy="435828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9"/>
          <p:cNvSpPr txBox="1"/>
          <p:nvPr/>
        </p:nvSpPr>
        <p:spPr>
          <a:xfrm>
            <a:off x="476250" y="476250"/>
            <a:ext cx="1171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1. Bubble Sort</a:t>
            </a: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476250" y="1114425"/>
            <a:ext cx="11239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7658100" y="2002333"/>
            <a:ext cx="3771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COMPLEXIDADE DE TEMPO</a:t>
            </a:r>
            <a:endParaRPr/>
          </a:p>
        </p:txBody>
      </p:sp>
      <p:sp>
        <p:nvSpPr>
          <p:cNvPr id="224" name="Google Shape;224;p29"/>
          <p:cNvSpPr txBox="1"/>
          <p:nvPr/>
        </p:nvSpPr>
        <p:spPr>
          <a:xfrm>
            <a:off x="7658100" y="2221408"/>
            <a:ext cx="377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O(n²)</a:t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7658100" y="2745283"/>
            <a:ext cx="3771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Ocorre devido a</a:t>
            </a: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 dois loops aninhados. O loop externo executa n vezes e o interno executa aproximadamente n vezes no pior caso.</a:t>
            </a:r>
            <a:endParaRPr/>
          </a:p>
        </p:txBody>
      </p:sp>
      <p:sp>
        <p:nvSpPr>
          <p:cNvPr id="226" name="Google Shape;226;p29"/>
          <p:cNvSpPr txBox="1"/>
          <p:nvPr/>
        </p:nvSpPr>
        <p:spPr>
          <a:xfrm>
            <a:off x="7658100" y="3667125"/>
            <a:ext cx="3771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CÁLCULO</a:t>
            </a:r>
            <a:endParaRPr/>
          </a:p>
        </p:txBody>
      </p:sp>
      <p:sp>
        <p:nvSpPr>
          <p:cNvPr id="227" name="Google Shape;227;p29"/>
          <p:cNvSpPr txBox="1"/>
          <p:nvPr/>
        </p:nvSpPr>
        <p:spPr>
          <a:xfrm>
            <a:off x="7658100" y="3933825"/>
            <a:ext cx="377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(n-1) + (n-2) + ... + 1 ≈ n²/2</a:t>
            </a:r>
            <a:endParaRPr/>
          </a:p>
        </p:txBody>
      </p:sp>
      <p:pic>
        <p:nvPicPr>
          <p:cNvPr id="228" name="Google Shape;2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000" y="2733675"/>
            <a:ext cx="7000875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2350" y="1569839"/>
            <a:ext cx="4343400" cy="465162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0"/>
          <p:cNvSpPr txBox="1"/>
          <p:nvPr/>
        </p:nvSpPr>
        <p:spPr>
          <a:xfrm>
            <a:off x="476250" y="476250"/>
            <a:ext cx="1171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2. Merge Sort</a:t>
            </a:r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476250" y="1114425"/>
            <a:ext cx="11239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7658100" y="1855589"/>
            <a:ext cx="3771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COMPLEXIDADE DE TEMPO</a:t>
            </a:r>
            <a:endParaRPr/>
          </a:p>
        </p:txBody>
      </p:sp>
      <p:sp>
        <p:nvSpPr>
          <p:cNvPr id="237" name="Google Shape;237;p30"/>
          <p:cNvSpPr txBox="1"/>
          <p:nvPr/>
        </p:nvSpPr>
        <p:spPr>
          <a:xfrm>
            <a:off x="7658100" y="2074664"/>
            <a:ext cx="377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O(n log n)</a:t>
            </a:r>
            <a:endParaRPr/>
          </a:p>
        </p:txBody>
      </p:sp>
      <p:sp>
        <p:nvSpPr>
          <p:cNvPr id="238" name="Google Shape;238;p30"/>
          <p:cNvSpPr txBox="1"/>
          <p:nvPr/>
        </p:nvSpPr>
        <p:spPr>
          <a:xfrm>
            <a:off x="7658100" y="2598539"/>
            <a:ext cx="3771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Consistente em todos os casos (melhor, médio, pior). A altura da árvore de recursão é </a:t>
            </a:r>
            <a:r>
              <a:rPr lang="en-US" sz="12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log n e cada nível custa n para o merge.</a:t>
            </a:r>
            <a:endParaRPr/>
          </a:p>
        </p:txBody>
      </p:sp>
      <p:sp>
        <p:nvSpPr>
          <p:cNvPr id="239" name="Google Shape;239;p30"/>
          <p:cNvSpPr txBox="1"/>
          <p:nvPr/>
        </p:nvSpPr>
        <p:spPr>
          <a:xfrm>
            <a:off x="7658100" y="3520380"/>
            <a:ext cx="3771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RELAÇÃO DE RECORRÊNCIA</a:t>
            </a:r>
            <a:endParaRPr/>
          </a:p>
        </p:txBody>
      </p:sp>
      <p:sp>
        <p:nvSpPr>
          <p:cNvPr id="240" name="Google Shape;240;p30"/>
          <p:cNvSpPr txBox="1"/>
          <p:nvPr/>
        </p:nvSpPr>
        <p:spPr>
          <a:xfrm>
            <a:off x="7658100" y="3787080"/>
            <a:ext cx="377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T(n) = 2T(n/2) + O(n)</a:t>
            </a:r>
            <a:endParaRPr/>
          </a:p>
        </p:txBody>
      </p:sp>
      <p:pic>
        <p:nvPicPr>
          <p:cNvPr id="241" name="Google Shape;24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300" y="2501088"/>
            <a:ext cx="6962775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2350" y="1409700"/>
            <a:ext cx="4343400" cy="508783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 txBox="1"/>
          <p:nvPr/>
        </p:nvSpPr>
        <p:spPr>
          <a:xfrm>
            <a:off x="476250" y="476250"/>
            <a:ext cx="1171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3. Quick Sort</a:t>
            </a:r>
            <a:endParaRPr/>
          </a:p>
        </p:txBody>
      </p:sp>
      <p:sp>
        <p:nvSpPr>
          <p:cNvPr id="248" name="Google Shape;248;p31"/>
          <p:cNvSpPr/>
          <p:nvPr/>
        </p:nvSpPr>
        <p:spPr>
          <a:xfrm>
            <a:off x="476250" y="1114425"/>
            <a:ext cx="11239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7658100" y="1695450"/>
            <a:ext cx="3771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CASO MÉDIO (ESPERADO)</a:t>
            </a:r>
            <a:endParaRPr/>
          </a:p>
        </p:txBody>
      </p:sp>
      <p:sp>
        <p:nvSpPr>
          <p:cNvPr id="250" name="Google Shape;250;p31"/>
          <p:cNvSpPr txBox="1"/>
          <p:nvPr/>
        </p:nvSpPr>
        <p:spPr>
          <a:xfrm>
            <a:off x="7658100" y="1914525"/>
            <a:ext cx="377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2C55E"/>
                </a:solidFill>
                <a:latin typeface="Merriweather"/>
                <a:ea typeface="Merriweather"/>
                <a:cs typeface="Merriweather"/>
                <a:sym typeface="Merriweather"/>
              </a:rPr>
              <a:t>O(n log n)</a:t>
            </a:r>
            <a:endParaRPr/>
          </a:p>
        </p:txBody>
      </p:sp>
      <p:sp>
        <p:nvSpPr>
          <p:cNvPr id="251" name="Google Shape;251;p31"/>
          <p:cNvSpPr txBox="1"/>
          <p:nvPr/>
        </p:nvSpPr>
        <p:spPr>
          <a:xfrm>
            <a:off x="7658100" y="2438400"/>
            <a:ext cx="3771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Ocorre quando o pivô divide o array em partes balanceadas.</a:t>
            </a:r>
            <a:endParaRPr/>
          </a:p>
        </p:txBody>
      </p:sp>
      <p:sp>
        <p:nvSpPr>
          <p:cNvPr id="252" name="Google Shape;252;p31"/>
          <p:cNvSpPr txBox="1"/>
          <p:nvPr/>
        </p:nvSpPr>
        <p:spPr>
          <a:xfrm>
            <a:off x="7658100" y="4233085"/>
            <a:ext cx="3771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PIOR CASO</a:t>
            </a:r>
            <a:endParaRPr/>
          </a:p>
        </p:txBody>
      </p:sp>
      <p:sp>
        <p:nvSpPr>
          <p:cNvPr id="253" name="Google Shape;253;p31"/>
          <p:cNvSpPr txBox="1"/>
          <p:nvPr/>
        </p:nvSpPr>
        <p:spPr>
          <a:xfrm>
            <a:off x="7658100" y="4452160"/>
            <a:ext cx="377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O(n²)</a:t>
            </a:r>
            <a:endParaRPr/>
          </a:p>
        </p:txBody>
      </p:sp>
      <p:sp>
        <p:nvSpPr>
          <p:cNvPr id="254" name="Google Shape;254;p31"/>
          <p:cNvSpPr txBox="1"/>
          <p:nvPr/>
        </p:nvSpPr>
        <p:spPr>
          <a:xfrm>
            <a:off x="7658100" y="4976035"/>
            <a:ext cx="3771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Como o pivô é fixo no fim (arr[high]), se o array já estiver ordenado, a partição será desbalanceada (0 e n-1 elementos), degradando a performance.</a:t>
            </a:r>
            <a:endParaRPr/>
          </a:p>
        </p:txBody>
      </p:sp>
      <p:pic>
        <p:nvPicPr>
          <p:cNvPr id="255" name="Google Shape;25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450" y="2671738"/>
            <a:ext cx="68580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2" title="Captura de tela 2025-11-25 160430.png"/>
          <p:cNvPicPr preferRelativeResize="0"/>
          <p:nvPr/>
        </p:nvPicPr>
        <p:blipFill rotWithShape="1">
          <a:blip r:embed="rId4">
            <a:alphaModFix/>
          </a:blip>
          <a:srcRect b="0" l="-1446" r="12168" t="0"/>
          <a:stretch/>
        </p:blipFill>
        <p:spPr>
          <a:xfrm>
            <a:off x="6381750" y="2088802"/>
            <a:ext cx="5238751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63341"/>
            <a:ext cx="5238750" cy="16305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2"/>
          <p:cNvSpPr txBox="1"/>
          <p:nvPr/>
        </p:nvSpPr>
        <p:spPr>
          <a:xfrm>
            <a:off x="571500" y="2168341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 projeto cumpre os requisitos de análise de complexidade e implementação web moderna.</a:t>
            </a:r>
            <a:endParaRPr/>
          </a:p>
        </p:txBody>
      </p:sp>
      <p:sp>
        <p:nvSpPr>
          <p:cNvPr id="264" name="Google Shape;264;p32"/>
          <p:cNvSpPr txBox="1"/>
          <p:nvPr/>
        </p:nvSpPr>
        <p:spPr>
          <a:xfrm>
            <a:off x="571500" y="3394175"/>
            <a:ext cx="47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</a:t>
            </a:r>
            <a:r>
              <a:rPr b="1" i="0" lang="en-US" sz="2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tatus: Online</a:t>
            </a:r>
            <a:endParaRPr/>
          </a:p>
        </p:txBody>
      </p:sp>
      <p:sp>
        <p:nvSpPr>
          <p:cNvPr id="265" name="Google Shape;265;p32"/>
          <p:cNvSpPr txBox="1"/>
          <p:nvPr/>
        </p:nvSpPr>
        <p:spPr>
          <a:xfrm>
            <a:off x="847725" y="3816697"/>
            <a:ext cx="47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App: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350" u="sng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https://algoranker.fly.dev/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6" name="Google Shape;266;p32"/>
          <p:cNvSpPr txBox="1"/>
          <p:nvPr/>
        </p:nvSpPr>
        <p:spPr>
          <a:xfrm>
            <a:off x="847725" y="4138612"/>
            <a:ext cx="4724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Repo: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github.com/tupi/algoranker</a:t>
            </a:r>
            <a:endParaRPr/>
          </a:p>
        </p:txBody>
      </p:sp>
      <p:pic>
        <p:nvPicPr>
          <p:cNvPr descr="image.png" id="267" name="Google Shape;267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00350" y="342236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386432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4186237"/>
            <a:ext cx="1619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2"/>
          <p:cNvSpPr txBox="1"/>
          <p:nvPr/>
        </p:nvSpPr>
        <p:spPr>
          <a:xfrm>
            <a:off x="571500" y="571500"/>
            <a:ext cx="11601450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 e Deploy</a:t>
            </a:r>
            <a:endParaRPr/>
          </a:p>
        </p:txBody>
      </p:sp>
      <p:sp>
        <p:nvSpPr>
          <p:cNvPr id="271" name="Google Shape;271;p32"/>
          <p:cNvSpPr/>
          <p:nvPr/>
        </p:nvSpPr>
        <p:spPr>
          <a:xfrm>
            <a:off x="571500" y="131058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3"/>
          <p:cNvSpPr txBox="1"/>
          <p:nvPr/>
        </p:nvSpPr>
        <p:spPr>
          <a:xfrm>
            <a:off x="2442150" y="2236525"/>
            <a:ext cx="73077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Apresentação do Site</a:t>
            </a:r>
            <a:endParaRPr b="1" sz="5400">
              <a:solidFill>
                <a:srgbClr val="38BDF8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rgbClr val="38BDF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8" name="Google Shape;278;p33"/>
          <p:cNvSpPr txBox="1"/>
          <p:nvPr/>
        </p:nvSpPr>
        <p:spPr>
          <a:xfrm>
            <a:off x="4452937" y="3263205"/>
            <a:ext cx="328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279" name="Google Shape;27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7875" y="3478591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